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" charset="1" panose="020B0503050203000203"/>
      <p:regular r:id="rId16"/>
    </p:embeddedFont>
    <p:embeddedFont>
      <p:font typeface="IBM Plex Sans Bold" charset="1" panose="020B0803050203000203"/>
      <p:regular r:id="rId17"/>
    </p:embeddedFont>
    <p:embeddedFont>
      <p:font typeface="IBM Plex Mono" charset="1" panose="020B0509050203000203"/>
      <p:regular r:id="rId18"/>
    </p:embeddedFont>
    <p:embeddedFont>
      <p:font typeface="Telegraf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6.jpeg" Type="http://schemas.openxmlformats.org/officeDocument/2006/relationships/image"/><Relationship Id="rId9" Target="../media/image2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81075"/>
            <a:ext cx="1829031" cy="47625"/>
            <a:chOff x="0" y="0"/>
            <a:chExt cx="486798" cy="126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450573" y="1660340"/>
            <a:ext cx="6808727" cy="7463822"/>
            <a:chOff x="0" y="0"/>
            <a:chExt cx="1098131" cy="120378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8131" cy="1203786"/>
            </a:xfrm>
            <a:custGeom>
              <a:avLst/>
              <a:gdLst/>
              <a:ahLst/>
              <a:cxnLst/>
              <a:rect r="r" b="b" t="t" l="l"/>
              <a:pathLst>
                <a:path h="1203786" w="1098131">
                  <a:moveTo>
                    <a:pt x="0" y="0"/>
                  </a:moveTo>
                  <a:lnTo>
                    <a:pt x="1098131" y="0"/>
                  </a:lnTo>
                  <a:lnTo>
                    <a:pt x="1098131" y="1203786"/>
                  </a:lnTo>
                  <a:lnTo>
                    <a:pt x="0" y="1203786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8131" cy="1232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601836" y="1808839"/>
            <a:ext cx="6506201" cy="7167992"/>
            <a:chOff x="0" y="0"/>
            <a:chExt cx="1226017" cy="13507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26017" cy="1350724"/>
            </a:xfrm>
            <a:custGeom>
              <a:avLst/>
              <a:gdLst/>
              <a:ahLst/>
              <a:cxnLst/>
              <a:rect r="r" b="b" t="t" l="l"/>
              <a:pathLst>
                <a:path h="1350724" w="1226017">
                  <a:moveTo>
                    <a:pt x="0" y="0"/>
                  </a:moveTo>
                  <a:lnTo>
                    <a:pt x="1226017" y="0"/>
                  </a:lnTo>
                  <a:lnTo>
                    <a:pt x="1226017" y="1350724"/>
                  </a:lnTo>
                  <a:lnTo>
                    <a:pt x="0" y="1350724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9163"/>
              </a:stretch>
            </a:blipFill>
            <a:ln w="9525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6678869" y="1808839"/>
            <a:ext cx="429168" cy="7167992"/>
            <a:chOff x="0" y="0"/>
            <a:chExt cx="113032" cy="188786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3032" cy="1887866"/>
            </a:xfrm>
            <a:custGeom>
              <a:avLst/>
              <a:gdLst/>
              <a:ahLst/>
              <a:cxnLst/>
              <a:rect r="r" b="b" t="t" l="l"/>
              <a:pathLst>
                <a:path h="1887866" w="113032">
                  <a:moveTo>
                    <a:pt x="0" y="0"/>
                  </a:moveTo>
                  <a:lnTo>
                    <a:pt x="113032" y="0"/>
                  </a:lnTo>
                  <a:lnTo>
                    <a:pt x="113032" y="1887866"/>
                  </a:lnTo>
                  <a:lnTo>
                    <a:pt x="0" y="1887866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13032" cy="1916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755098" y="2316304"/>
            <a:ext cx="276709" cy="2419568"/>
            <a:chOff x="0" y="0"/>
            <a:chExt cx="72878" cy="63725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878" cy="637253"/>
            </a:xfrm>
            <a:custGeom>
              <a:avLst/>
              <a:gdLst/>
              <a:ahLst/>
              <a:cxnLst/>
              <a:rect r="r" b="b" t="t" l="l"/>
              <a:pathLst>
                <a:path h="637253" w="72878">
                  <a:moveTo>
                    <a:pt x="36439" y="0"/>
                  </a:moveTo>
                  <a:lnTo>
                    <a:pt x="36439" y="0"/>
                  </a:lnTo>
                  <a:cubicBezTo>
                    <a:pt x="56564" y="0"/>
                    <a:pt x="72878" y="16314"/>
                    <a:pt x="72878" y="36439"/>
                  </a:cubicBezTo>
                  <a:lnTo>
                    <a:pt x="72878" y="600814"/>
                  </a:lnTo>
                  <a:cubicBezTo>
                    <a:pt x="72878" y="620938"/>
                    <a:pt x="56564" y="637253"/>
                    <a:pt x="36439" y="637253"/>
                  </a:cubicBezTo>
                  <a:lnTo>
                    <a:pt x="36439" y="637253"/>
                  </a:lnTo>
                  <a:cubicBezTo>
                    <a:pt x="16314" y="637253"/>
                    <a:pt x="0" y="620938"/>
                    <a:pt x="0" y="600814"/>
                  </a:cubicBezTo>
                  <a:lnTo>
                    <a:pt x="0" y="36439"/>
                  </a:lnTo>
                  <a:cubicBezTo>
                    <a:pt x="0" y="16314"/>
                    <a:pt x="16314" y="0"/>
                    <a:pt x="36439" y="0"/>
                  </a:cubicBez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72878" cy="66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28700" y="8025521"/>
            <a:ext cx="251599" cy="251599"/>
            <a:chOff x="0" y="0"/>
            <a:chExt cx="66265" cy="6626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8" id="78"/>
          <p:cNvSpPr/>
          <p:nvPr/>
        </p:nvSpPr>
        <p:spPr>
          <a:xfrm>
            <a:off x="1144974" y="8277120"/>
            <a:ext cx="0" cy="443676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9" id="79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980613" y="8390629"/>
            <a:ext cx="5116250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Hisham Ahmed (24FA-013-CS)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Laiba Khan (24FA-053-CS)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13202" y="7971934"/>
            <a:ext cx="5483661" cy="33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Presented By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75475" y="3602288"/>
            <a:ext cx="9075097" cy="216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5"/>
              </a:lnSpc>
            </a:pPr>
            <a:r>
              <a:rPr lang="en-US" b="true" sz="8055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JAVA CHAT APPLICATION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29031" y="981075"/>
            <a:ext cx="1829031" cy="47625"/>
            <a:chOff x="0" y="0"/>
            <a:chExt cx="486798" cy="126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25782" y="4797175"/>
            <a:ext cx="251599" cy="251599"/>
            <a:chOff x="0" y="0"/>
            <a:chExt cx="66265" cy="6626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25782" y="6897431"/>
            <a:ext cx="251599" cy="251599"/>
            <a:chOff x="0" y="0"/>
            <a:chExt cx="66265" cy="6626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763319" y="6897431"/>
            <a:ext cx="251599" cy="251599"/>
            <a:chOff x="0" y="0"/>
            <a:chExt cx="66265" cy="662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3" id="73"/>
          <p:cNvSpPr/>
          <p:nvPr/>
        </p:nvSpPr>
        <p:spPr>
          <a:xfrm>
            <a:off x="1142056" y="5048774"/>
            <a:ext cx="0" cy="1138951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>
            <a:off x="1142056" y="7149030"/>
            <a:ext cx="0" cy="1545131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5879594" y="7149030"/>
            <a:ext cx="0" cy="1545131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11769913" y="1667171"/>
            <a:ext cx="5963003" cy="7463822"/>
            <a:chOff x="0" y="0"/>
            <a:chExt cx="961730" cy="120378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61730" cy="1203786"/>
            </a:xfrm>
            <a:custGeom>
              <a:avLst/>
              <a:gdLst/>
              <a:ahLst/>
              <a:cxnLst/>
              <a:rect r="r" b="b" t="t" l="l"/>
              <a:pathLst>
                <a:path h="1203786" w="961730">
                  <a:moveTo>
                    <a:pt x="0" y="0"/>
                  </a:moveTo>
                  <a:lnTo>
                    <a:pt x="961730" y="0"/>
                  </a:lnTo>
                  <a:lnTo>
                    <a:pt x="961730" y="1203786"/>
                  </a:lnTo>
                  <a:lnTo>
                    <a:pt x="0" y="1203786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961730" cy="1232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194478" y="3239448"/>
            <a:ext cx="1403985" cy="1404056"/>
            <a:chOff x="0" y="0"/>
            <a:chExt cx="226439" cy="2264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6439" cy="226450"/>
            </a:xfrm>
            <a:custGeom>
              <a:avLst/>
              <a:gdLst/>
              <a:ahLst/>
              <a:cxnLst/>
              <a:rect r="r" b="b" t="t" l="l"/>
              <a:pathLst>
                <a:path h="226450" w="226439">
                  <a:moveTo>
                    <a:pt x="0" y="0"/>
                  </a:moveTo>
                  <a:lnTo>
                    <a:pt x="226439" y="0"/>
                  </a:lnTo>
                  <a:lnTo>
                    <a:pt x="226439" y="226450"/>
                  </a:lnTo>
                  <a:lnTo>
                    <a:pt x="0" y="2264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226439" cy="255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194478" y="1673468"/>
            <a:ext cx="1403985" cy="1404056"/>
            <a:chOff x="0" y="0"/>
            <a:chExt cx="226439" cy="2264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6439" cy="226450"/>
            </a:xfrm>
            <a:custGeom>
              <a:avLst/>
              <a:gdLst/>
              <a:ahLst/>
              <a:cxnLst/>
              <a:rect r="r" b="b" t="t" l="l"/>
              <a:pathLst>
                <a:path h="226450" w="226439">
                  <a:moveTo>
                    <a:pt x="0" y="0"/>
                  </a:moveTo>
                  <a:lnTo>
                    <a:pt x="226439" y="0"/>
                  </a:lnTo>
                  <a:lnTo>
                    <a:pt x="226439" y="226450"/>
                  </a:lnTo>
                  <a:lnTo>
                    <a:pt x="0" y="2264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226439" cy="255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931838" y="1815670"/>
            <a:ext cx="5611335" cy="7167992"/>
            <a:chOff x="0" y="0"/>
            <a:chExt cx="1057390" cy="13507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57390" cy="1350724"/>
            </a:xfrm>
            <a:custGeom>
              <a:avLst/>
              <a:gdLst/>
              <a:ahLst/>
              <a:cxnLst/>
              <a:rect r="r" b="b" t="t" l="l"/>
              <a:pathLst>
                <a:path h="1350724" w="1057390">
                  <a:moveTo>
                    <a:pt x="0" y="0"/>
                  </a:moveTo>
                  <a:lnTo>
                    <a:pt x="1057390" y="0"/>
                  </a:lnTo>
                  <a:lnTo>
                    <a:pt x="1057390" y="1350724"/>
                  </a:lnTo>
                  <a:lnTo>
                    <a:pt x="0" y="1350724"/>
                  </a:lnTo>
                  <a:close/>
                </a:path>
              </a:pathLst>
            </a:custGeom>
            <a:blipFill>
              <a:blip r:embed="rId8"/>
              <a:stretch>
                <a:fillRect l="-2401" t="0" r="-3307" b="0"/>
              </a:stretch>
            </a:blipFill>
            <a:ln w="9525" cap="sq">
              <a:solidFill>
                <a:srgbClr val="E1E1E1"/>
              </a:solidFill>
              <a:prstDash val="solid"/>
              <a:miter/>
            </a:ln>
          </p:spPr>
        </p:sp>
      </p:grpSp>
      <p:sp>
        <p:nvSpPr>
          <p:cNvPr name="Freeform 87" id="87"/>
          <p:cNvSpPr/>
          <p:nvPr/>
        </p:nvSpPr>
        <p:spPr>
          <a:xfrm flipH="false" flipV="false" rot="0">
            <a:off x="10551833" y="3573757"/>
            <a:ext cx="689276" cy="773539"/>
          </a:xfrm>
          <a:custGeom>
            <a:avLst/>
            <a:gdLst/>
            <a:ahLst/>
            <a:cxnLst/>
            <a:rect r="r" b="b" t="t" l="l"/>
            <a:pathLst>
              <a:path h="773539" w="689276">
                <a:moveTo>
                  <a:pt x="0" y="0"/>
                </a:moveTo>
                <a:lnTo>
                  <a:pt x="689276" y="0"/>
                </a:lnTo>
                <a:lnTo>
                  <a:pt x="689276" y="773539"/>
                </a:lnTo>
                <a:lnTo>
                  <a:pt x="0" y="7735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0575506" y="2071454"/>
            <a:ext cx="641930" cy="608082"/>
          </a:xfrm>
          <a:custGeom>
            <a:avLst/>
            <a:gdLst/>
            <a:ahLst/>
            <a:cxnLst/>
            <a:rect r="r" b="b" t="t" l="l"/>
            <a:pathLst>
              <a:path h="608082" w="641930">
                <a:moveTo>
                  <a:pt x="0" y="0"/>
                </a:moveTo>
                <a:lnTo>
                  <a:pt x="641930" y="0"/>
                </a:lnTo>
                <a:lnTo>
                  <a:pt x="641930" y="608083"/>
                </a:lnTo>
                <a:lnTo>
                  <a:pt x="0" y="6080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9" id="89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716113" y="4318721"/>
            <a:ext cx="644090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simple, real-time chat application built using Java.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Demonstrates client-server architecture, database integration, and GUI development.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91" id="91"/>
          <p:cNvSpPr txBox="true"/>
          <p:nvPr/>
        </p:nvSpPr>
        <p:spPr>
          <a:xfrm rot="0">
            <a:off x="1716113" y="7253030"/>
            <a:ext cx="3942431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Facilitates instant communication between users.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Provides a practical example for learning network programming and concurrent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6401610" y="7253030"/>
            <a:ext cx="3994944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 multiple users through a central server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610283" y="3781139"/>
            <a:ext cx="77124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About this Project: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610283" y="6834334"/>
            <a:ext cx="3741410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 a Chat Application?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348293" y="6834334"/>
            <a:ext cx="3741410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Core Idea: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42056" y="1872820"/>
            <a:ext cx="8947647" cy="122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true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58063" y="981075"/>
            <a:ext cx="1829031" cy="47625"/>
            <a:chOff x="0" y="0"/>
            <a:chExt cx="486798" cy="126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0" id="60"/>
          <p:cNvSpPr/>
          <p:nvPr/>
        </p:nvSpPr>
        <p:spPr>
          <a:xfrm flipV="true">
            <a:off x="1028700" y="5018002"/>
            <a:ext cx="17259300" cy="0"/>
          </a:xfrm>
          <a:prstGeom prst="line">
            <a:avLst/>
          </a:prstGeom>
          <a:ln cap="rnd" w="9525">
            <a:solidFill>
              <a:srgbClr val="E1E1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961765" y="4168564"/>
            <a:ext cx="1965792" cy="1689352"/>
            <a:chOff x="0" y="0"/>
            <a:chExt cx="812800" cy="6985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11049" y="4168564"/>
            <a:ext cx="1965792" cy="1689352"/>
            <a:chOff x="0" y="0"/>
            <a:chExt cx="812800" cy="6985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342078" y="4168564"/>
            <a:ext cx="1965792" cy="1689352"/>
            <a:chOff x="0" y="0"/>
            <a:chExt cx="812800" cy="6985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493177" y="4168564"/>
            <a:ext cx="1965792" cy="1689352"/>
            <a:chOff x="0" y="0"/>
            <a:chExt cx="812800" cy="6985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893503" y="4892203"/>
            <a:ext cx="251599" cy="251599"/>
            <a:chOff x="0" y="0"/>
            <a:chExt cx="66265" cy="6626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22223B"/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083660" y="4892203"/>
            <a:ext cx="251599" cy="251599"/>
            <a:chOff x="0" y="0"/>
            <a:chExt cx="66265" cy="6626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22223B"/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274724" y="4892203"/>
            <a:ext cx="251599" cy="251599"/>
            <a:chOff x="0" y="0"/>
            <a:chExt cx="66265" cy="6626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22223B"/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2600023" y="4631233"/>
            <a:ext cx="689276" cy="773539"/>
          </a:xfrm>
          <a:custGeom>
            <a:avLst/>
            <a:gdLst/>
            <a:ahLst/>
            <a:cxnLst/>
            <a:rect r="r" b="b" t="t" l="l"/>
            <a:pathLst>
              <a:path h="773539" w="689276">
                <a:moveTo>
                  <a:pt x="0" y="0"/>
                </a:moveTo>
                <a:lnTo>
                  <a:pt x="689276" y="0"/>
                </a:lnTo>
                <a:lnTo>
                  <a:pt x="689276" y="773538"/>
                </a:lnTo>
                <a:lnTo>
                  <a:pt x="0" y="773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6680531" y="4687230"/>
            <a:ext cx="826827" cy="649435"/>
          </a:xfrm>
          <a:custGeom>
            <a:avLst/>
            <a:gdLst/>
            <a:ahLst/>
            <a:cxnLst/>
            <a:rect r="r" b="b" t="t" l="l"/>
            <a:pathLst>
              <a:path h="649435" w="826827">
                <a:moveTo>
                  <a:pt x="0" y="0"/>
                </a:moveTo>
                <a:lnTo>
                  <a:pt x="826827" y="0"/>
                </a:lnTo>
                <a:lnTo>
                  <a:pt x="826827" y="649435"/>
                </a:lnTo>
                <a:lnTo>
                  <a:pt x="0" y="649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0989778" y="4659398"/>
            <a:ext cx="717208" cy="717208"/>
          </a:xfrm>
          <a:custGeom>
            <a:avLst/>
            <a:gdLst/>
            <a:ahLst/>
            <a:cxnLst/>
            <a:rect r="r" b="b" t="t" l="l"/>
            <a:pathLst>
              <a:path h="717208" w="717208">
                <a:moveTo>
                  <a:pt x="0" y="0"/>
                </a:moveTo>
                <a:lnTo>
                  <a:pt x="717208" y="0"/>
                </a:lnTo>
                <a:lnTo>
                  <a:pt x="717208" y="717208"/>
                </a:lnTo>
                <a:lnTo>
                  <a:pt x="0" y="7172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4979426" y="4659398"/>
            <a:ext cx="909522" cy="721003"/>
          </a:xfrm>
          <a:custGeom>
            <a:avLst/>
            <a:gdLst/>
            <a:ahLst/>
            <a:cxnLst/>
            <a:rect r="r" b="b" t="t" l="l"/>
            <a:pathLst>
              <a:path h="721003" w="909522">
                <a:moveTo>
                  <a:pt x="0" y="0"/>
                </a:moveTo>
                <a:lnTo>
                  <a:pt x="909522" y="0"/>
                </a:lnTo>
                <a:lnTo>
                  <a:pt x="909522" y="721003"/>
                </a:lnTo>
                <a:lnTo>
                  <a:pt x="0" y="7210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572569" y="1964493"/>
            <a:ext cx="14149776" cy="122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true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CORE FUNCTIONALITY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203865" y="6299392"/>
            <a:ext cx="251599" cy="251599"/>
            <a:chOff x="0" y="0"/>
            <a:chExt cx="66265" cy="6626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6" id="106"/>
          <p:cNvSpPr/>
          <p:nvPr/>
        </p:nvSpPr>
        <p:spPr>
          <a:xfrm>
            <a:off x="1320140" y="6550991"/>
            <a:ext cx="0" cy="1658689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7" id="107"/>
          <p:cNvSpPr txBox="true"/>
          <p:nvPr/>
        </p:nvSpPr>
        <p:spPr>
          <a:xfrm rot="0">
            <a:off x="1731689" y="6683566"/>
            <a:ext cx="328761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 user registration.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Secure login for existing users.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8" id="108"/>
          <p:cNvSpPr txBox="true"/>
          <p:nvPr/>
        </p:nvSpPr>
        <p:spPr>
          <a:xfrm rot="0">
            <a:off x="1731689" y="6236295"/>
            <a:ext cx="284088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User Authentication: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5382540" y="6299392"/>
            <a:ext cx="251599" cy="251599"/>
            <a:chOff x="0" y="0"/>
            <a:chExt cx="66265" cy="6626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2" id="112"/>
          <p:cNvSpPr/>
          <p:nvPr/>
        </p:nvSpPr>
        <p:spPr>
          <a:xfrm>
            <a:off x="5498815" y="6550991"/>
            <a:ext cx="0" cy="1658689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3" id="113"/>
          <p:cNvSpPr txBox="true"/>
          <p:nvPr/>
        </p:nvSpPr>
        <p:spPr>
          <a:xfrm rot="0">
            <a:off x="5910364" y="6683566"/>
            <a:ext cx="3299095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Send and receive messages instantly.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Messages broadcast to all connected users.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14" id="114"/>
          <p:cNvSpPr txBox="true"/>
          <p:nvPr/>
        </p:nvSpPr>
        <p:spPr>
          <a:xfrm rot="0">
            <a:off x="5910364" y="6236295"/>
            <a:ext cx="2897333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Real-time Messaging: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9560173" y="6299392"/>
            <a:ext cx="251599" cy="251599"/>
            <a:chOff x="0" y="0"/>
            <a:chExt cx="66265" cy="6626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8" id="118"/>
          <p:cNvSpPr/>
          <p:nvPr/>
        </p:nvSpPr>
        <p:spPr>
          <a:xfrm>
            <a:off x="9676447" y="6550991"/>
            <a:ext cx="0" cy="1658689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9" id="119"/>
          <p:cNvSpPr txBox="true"/>
          <p:nvPr/>
        </p:nvSpPr>
        <p:spPr>
          <a:xfrm rot="0">
            <a:off x="9859661" y="6683566"/>
            <a:ext cx="3230114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User data stored in a persistent database.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0" id="120"/>
          <p:cNvSpPr txBox="true"/>
          <p:nvPr/>
        </p:nvSpPr>
        <p:spPr>
          <a:xfrm rot="0">
            <a:off x="9859661" y="6236295"/>
            <a:ext cx="3878144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Centralized User Management: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13737805" y="6299392"/>
            <a:ext cx="251599" cy="251599"/>
            <a:chOff x="0" y="0"/>
            <a:chExt cx="66265" cy="6626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4" id="124"/>
          <p:cNvSpPr/>
          <p:nvPr/>
        </p:nvSpPr>
        <p:spPr>
          <a:xfrm>
            <a:off x="13854079" y="6550991"/>
            <a:ext cx="0" cy="1658689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5" id="125"/>
          <p:cNvSpPr txBox="true"/>
          <p:nvPr/>
        </p:nvSpPr>
        <p:spPr>
          <a:xfrm rot="0">
            <a:off x="14077502" y="6683566"/>
            <a:ext cx="318990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Intuitive, interactive interface for user interaction.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</a:p>
        </p:txBody>
      </p:sp>
      <p:sp>
        <p:nvSpPr>
          <p:cNvPr name="TextBox 126" id="126"/>
          <p:cNvSpPr txBox="true"/>
          <p:nvPr/>
        </p:nvSpPr>
        <p:spPr>
          <a:xfrm rot="0">
            <a:off x="14037029" y="6236295"/>
            <a:ext cx="395660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Graphical User Interface (GUI):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7094" y="981075"/>
            <a:ext cx="1829031" cy="47625"/>
            <a:chOff x="0" y="0"/>
            <a:chExt cx="486798" cy="126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581708" y="4456017"/>
            <a:ext cx="6778247" cy="2516283"/>
            <a:chOff x="0" y="0"/>
            <a:chExt cx="1093215" cy="40583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3215" cy="405833"/>
            </a:xfrm>
            <a:custGeom>
              <a:avLst/>
              <a:gdLst/>
              <a:ahLst/>
              <a:cxnLst/>
              <a:rect r="r" b="b" t="t" l="l"/>
              <a:pathLst>
                <a:path h="405833" w="1093215">
                  <a:moveTo>
                    <a:pt x="0" y="0"/>
                  </a:moveTo>
                  <a:lnTo>
                    <a:pt x="1093215" y="0"/>
                  </a:lnTo>
                  <a:lnTo>
                    <a:pt x="1093215" y="405833"/>
                  </a:lnTo>
                  <a:lnTo>
                    <a:pt x="0" y="405833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3215" cy="43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96008" y="4568412"/>
            <a:ext cx="6546063" cy="2293572"/>
            <a:chOff x="0" y="0"/>
            <a:chExt cx="1233529" cy="4321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33529" cy="432197"/>
            </a:xfrm>
            <a:custGeom>
              <a:avLst/>
              <a:gdLst/>
              <a:ahLst/>
              <a:cxnLst/>
              <a:rect r="r" b="b" t="t" l="l"/>
              <a:pathLst>
                <a:path h="432197" w="1233529">
                  <a:moveTo>
                    <a:pt x="0" y="0"/>
                  </a:moveTo>
                  <a:lnTo>
                    <a:pt x="1233529" y="0"/>
                  </a:lnTo>
                  <a:lnTo>
                    <a:pt x="1233529" y="432197"/>
                  </a:lnTo>
                  <a:lnTo>
                    <a:pt x="0" y="432197"/>
                  </a:lnTo>
                  <a:close/>
                </a:path>
              </a:pathLst>
            </a:custGeom>
            <a:blipFill>
              <a:blip r:embed="rId8"/>
              <a:stretch>
                <a:fillRect l="0" t="-15114" r="0" b="0"/>
              </a:stretch>
            </a:blipFill>
            <a:ln w="9525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7864912" y="4568412"/>
            <a:ext cx="381111" cy="2293572"/>
            <a:chOff x="0" y="0"/>
            <a:chExt cx="100375" cy="6040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375" cy="604068"/>
            </a:xfrm>
            <a:custGeom>
              <a:avLst/>
              <a:gdLst/>
              <a:ahLst/>
              <a:cxnLst/>
              <a:rect r="r" b="b" t="t" l="l"/>
              <a:pathLst>
                <a:path h="604068" w="100375">
                  <a:moveTo>
                    <a:pt x="0" y="0"/>
                  </a:moveTo>
                  <a:lnTo>
                    <a:pt x="100375" y="0"/>
                  </a:lnTo>
                  <a:lnTo>
                    <a:pt x="100375" y="604068"/>
                  </a:lnTo>
                  <a:lnTo>
                    <a:pt x="0" y="604068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00375" cy="63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917113" y="4971407"/>
            <a:ext cx="276709" cy="743791"/>
            <a:chOff x="0" y="0"/>
            <a:chExt cx="72878" cy="1958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878" cy="195896"/>
            </a:xfrm>
            <a:custGeom>
              <a:avLst/>
              <a:gdLst/>
              <a:ahLst/>
              <a:cxnLst/>
              <a:rect r="r" b="b" t="t" l="l"/>
              <a:pathLst>
                <a:path h="195896" w="72878">
                  <a:moveTo>
                    <a:pt x="36439" y="0"/>
                  </a:moveTo>
                  <a:lnTo>
                    <a:pt x="36439" y="0"/>
                  </a:lnTo>
                  <a:cubicBezTo>
                    <a:pt x="56564" y="0"/>
                    <a:pt x="72878" y="16314"/>
                    <a:pt x="72878" y="36439"/>
                  </a:cubicBezTo>
                  <a:lnTo>
                    <a:pt x="72878" y="159457"/>
                  </a:lnTo>
                  <a:cubicBezTo>
                    <a:pt x="72878" y="179581"/>
                    <a:pt x="56564" y="195896"/>
                    <a:pt x="36439" y="195896"/>
                  </a:cubicBezTo>
                  <a:lnTo>
                    <a:pt x="36439" y="195896"/>
                  </a:lnTo>
                  <a:cubicBezTo>
                    <a:pt x="16314" y="195896"/>
                    <a:pt x="0" y="179581"/>
                    <a:pt x="0" y="159457"/>
                  </a:cubicBezTo>
                  <a:lnTo>
                    <a:pt x="0" y="36439"/>
                  </a:lnTo>
                  <a:cubicBezTo>
                    <a:pt x="0" y="16314"/>
                    <a:pt x="16314" y="0"/>
                    <a:pt x="36439" y="0"/>
                  </a:cubicBez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72878" cy="224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083856" y="6223585"/>
            <a:ext cx="3404507" cy="2925748"/>
            <a:chOff x="0" y="0"/>
            <a:chExt cx="812800" cy="6985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>
                <a:alpha val="40000"/>
              </a:srgbClr>
            </a:solidFill>
            <a:ln w="9525" cap="sq">
              <a:solidFill>
                <a:srgbClr val="E1E1E1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083856" y="3179452"/>
            <a:ext cx="3404507" cy="2925748"/>
            <a:chOff x="0" y="0"/>
            <a:chExt cx="812800" cy="6985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747254" y="4703561"/>
            <a:ext cx="3404507" cy="2925748"/>
            <a:chOff x="0" y="0"/>
            <a:chExt cx="812800" cy="6985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747254" y="1654218"/>
            <a:ext cx="3404507" cy="2925748"/>
            <a:chOff x="0" y="0"/>
            <a:chExt cx="812800" cy="6985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>
                <a:alpha val="40000"/>
              </a:srgbClr>
            </a:solidFill>
            <a:ln w="9525" cap="sq">
              <a:solidFill>
                <a:srgbClr val="E1E1E1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410405" y="3179452"/>
            <a:ext cx="3404507" cy="2925748"/>
            <a:chOff x="0" y="0"/>
            <a:chExt cx="812800" cy="6985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410405" y="6223585"/>
            <a:ext cx="3404507" cy="2925748"/>
            <a:chOff x="0" y="0"/>
            <a:chExt cx="812800" cy="6985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>
                <a:alpha val="40000"/>
              </a:srgbClr>
            </a:solidFill>
            <a:ln w="9525" cap="sq">
              <a:solidFill>
                <a:srgbClr val="E1E1E1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15412180" y="3686522"/>
            <a:ext cx="1327883" cy="478038"/>
          </a:xfrm>
          <a:custGeom>
            <a:avLst/>
            <a:gdLst/>
            <a:ahLst/>
            <a:cxnLst/>
            <a:rect r="r" b="b" t="t" l="l"/>
            <a:pathLst>
              <a:path h="478038" w="1327883">
                <a:moveTo>
                  <a:pt x="0" y="0"/>
                </a:moveTo>
                <a:lnTo>
                  <a:pt x="1327883" y="0"/>
                </a:lnTo>
                <a:lnTo>
                  <a:pt x="1327883" y="478038"/>
                </a:lnTo>
                <a:lnTo>
                  <a:pt x="0" y="4780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2734567" y="5138772"/>
            <a:ext cx="1429881" cy="506958"/>
          </a:xfrm>
          <a:custGeom>
            <a:avLst/>
            <a:gdLst/>
            <a:ahLst/>
            <a:cxnLst/>
            <a:rect r="r" b="b" t="t" l="l"/>
            <a:pathLst>
              <a:path h="506958" w="1429881">
                <a:moveTo>
                  <a:pt x="0" y="0"/>
                </a:moveTo>
                <a:lnTo>
                  <a:pt x="1429881" y="0"/>
                </a:lnTo>
                <a:lnTo>
                  <a:pt x="1429881" y="506958"/>
                </a:lnTo>
                <a:lnTo>
                  <a:pt x="0" y="506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0133599" y="3649739"/>
            <a:ext cx="1305021" cy="462689"/>
          </a:xfrm>
          <a:custGeom>
            <a:avLst/>
            <a:gdLst/>
            <a:ahLst/>
            <a:cxnLst/>
            <a:rect r="r" b="b" t="t" l="l"/>
            <a:pathLst>
              <a:path h="462689" w="1305021">
                <a:moveTo>
                  <a:pt x="0" y="0"/>
                </a:moveTo>
                <a:lnTo>
                  <a:pt x="1305021" y="0"/>
                </a:lnTo>
                <a:lnTo>
                  <a:pt x="1305021" y="462689"/>
                </a:lnTo>
                <a:lnTo>
                  <a:pt x="0" y="4626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1142056" y="1699338"/>
            <a:ext cx="8003101" cy="228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true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COMPONENTS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554698" y="4670578"/>
            <a:ext cx="246282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Manages Connections and Messages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269079" y="6185162"/>
            <a:ext cx="236085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User Interface, allows User Interaction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4844711" y="4659455"/>
            <a:ext cx="246282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Stores User Account Details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804807" y="4261407"/>
            <a:ext cx="1962604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Chat Server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468206" y="5775991"/>
            <a:ext cx="1962604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Chat Client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5094820" y="4250285"/>
            <a:ext cx="1962604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SQL Database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16126" y="981075"/>
            <a:ext cx="1829031" cy="47625"/>
            <a:chOff x="0" y="0"/>
            <a:chExt cx="486798" cy="126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25782" y="4524831"/>
            <a:ext cx="251599" cy="251599"/>
            <a:chOff x="0" y="0"/>
            <a:chExt cx="66265" cy="6626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762905" y="2148309"/>
            <a:ext cx="251599" cy="251599"/>
            <a:chOff x="0" y="0"/>
            <a:chExt cx="66265" cy="6626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762905" y="4679571"/>
            <a:ext cx="251599" cy="251599"/>
            <a:chOff x="0" y="0"/>
            <a:chExt cx="66265" cy="662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762905" y="7234524"/>
            <a:ext cx="251599" cy="251599"/>
            <a:chOff x="0" y="0"/>
            <a:chExt cx="66265" cy="6626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6" id="76"/>
          <p:cNvSpPr/>
          <p:nvPr/>
        </p:nvSpPr>
        <p:spPr>
          <a:xfrm>
            <a:off x="1142056" y="4776430"/>
            <a:ext cx="0" cy="3606652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11879179" y="2399908"/>
            <a:ext cx="0" cy="1173760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11879179" y="4931170"/>
            <a:ext cx="0" cy="1173760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11879179" y="7486123"/>
            <a:ext cx="0" cy="1173760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8962376" y="1721955"/>
            <a:ext cx="2627585" cy="2278066"/>
            <a:chOff x="0" y="0"/>
            <a:chExt cx="261194" cy="2264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1194" cy="226450"/>
            </a:xfrm>
            <a:custGeom>
              <a:avLst/>
              <a:gdLst/>
              <a:ahLst/>
              <a:cxnLst/>
              <a:rect r="r" b="b" t="t" l="l"/>
              <a:pathLst>
                <a:path h="226450" w="261194">
                  <a:moveTo>
                    <a:pt x="0" y="0"/>
                  </a:moveTo>
                  <a:lnTo>
                    <a:pt x="261194" y="0"/>
                  </a:lnTo>
                  <a:lnTo>
                    <a:pt x="261194" y="226450"/>
                  </a:lnTo>
                  <a:lnTo>
                    <a:pt x="0" y="2264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61194" cy="255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962376" y="4262743"/>
            <a:ext cx="2627585" cy="2278066"/>
            <a:chOff x="0" y="0"/>
            <a:chExt cx="261194" cy="2264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61194" cy="226450"/>
            </a:xfrm>
            <a:custGeom>
              <a:avLst/>
              <a:gdLst/>
              <a:ahLst/>
              <a:cxnLst/>
              <a:rect r="r" b="b" t="t" l="l"/>
              <a:pathLst>
                <a:path h="226450" w="261194">
                  <a:moveTo>
                    <a:pt x="0" y="0"/>
                  </a:moveTo>
                  <a:lnTo>
                    <a:pt x="261194" y="0"/>
                  </a:lnTo>
                  <a:lnTo>
                    <a:pt x="261194" y="226450"/>
                  </a:lnTo>
                  <a:lnTo>
                    <a:pt x="0" y="2264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61194" cy="255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962376" y="6803530"/>
            <a:ext cx="2627585" cy="2278066"/>
            <a:chOff x="0" y="0"/>
            <a:chExt cx="261194" cy="2264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1194" cy="226450"/>
            </a:xfrm>
            <a:custGeom>
              <a:avLst/>
              <a:gdLst/>
              <a:ahLst/>
              <a:cxnLst/>
              <a:rect r="r" b="b" t="t" l="l"/>
              <a:pathLst>
                <a:path h="226450" w="261194">
                  <a:moveTo>
                    <a:pt x="0" y="0"/>
                  </a:moveTo>
                  <a:lnTo>
                    <a:pt x="261194" y="0"/>
                  </a:lnTo>
                  <a:lnTo>
                    <a:pt x="261194" y="226450"/>
                  </a:lnTo>
                  <a:lnTo>
                    <a:pt x="0" y="2264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61194" cy="255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073616" y="1823012"/>
            <a:ext cx="2405106" cy="2069840"/>
            <a:chOff x="0" y="0"/>
            <a:chExt cx="1553335" cy="133680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553335" cy="1336804"/>
            </a:xfrm>
            <a:custGeom>
              <a:avLst/>
              <a:gdLst/>
              <a:ahLst/>
              <a:cxnLst/>
              <a:rect r="r" b="b" t="t" l="l"/>
              <a:pathLst>
                <a:path h="1336804" w="1553335">
                  <a:moveTo>
                    <a:pt x="0" y="0"/>
                  </a:moveTo>
                  <a:lnTo>
                    <a:pt x="1553335" y="0"/>
                  </a:lnTo>
                  <a:lnTo>
                    <a:pt x="1553335" y="1336804"/>
                  </a:lnTo>
                  <a:lnTo>
                    <a:pt x="0" y="1336804"/>
                  </a:lnTo>
                  <a:close/>
                </a:path>
              </a:pathLst>
            </a:custGeom>
            <a:blipFill>
              <a:blip r:embed="rId8"/>
              <a:stretch>
                <a:fillRect l="-10185" t="0" r="-19228" b="0"/>
              </a:stretch>
            </a:blipFill>
            <a:ln w="9525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1210222" y="1823012"/>
            <a:ext cx="268500" cy="2069840"/>
            <a:chOff x="0" y="0"/>
            <a:chExt cx="78360" cy="6040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8360" cy="604068"/>
            </a:xfrm>
            <a:custGeom>
              <a:avLst/>
              <a:gdLst/>
              <a:ahLst/>
              <a:cxnLst/>
              <a:rect r="r" b="b" t="t" l="l"/>
              <a:pathLst>
                <a:path h="604068" w="78360">
                  <a:moveTo>
                    <a:pt x="0" y="0"/>
                  </a:moveTo>
                  <a:lnTo>
                    <a:pt x="78360" y="0"/>
                  </a:lnTo>
                  <a:lnTo>
                    <a:pt x="78360" y="604068"/>
                  </a:lnTo>
                  <a:lnTo>
                    <a:pt x="0" y="604068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78360" cy="63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246998" y="2186695"/>
            <a:ext cx="194947" cy="671236"/>
            <a:chOff x="0" y="0"/>
            <a:chExt cx="56894" cy="1958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6894" cy="195896"/>
            </a:xfrm>
            <a:custGeom>
              <a:avLst/>
              <a:gdLst/>
              <a:ahLst/>
              <a:cxnLst/>
              <a:rect r="r" b="b" t="t" l="l"/>
              <a:pathLst>
                <a:path h="195896" w="56894">
                  <a:moveTo>
                    <a:pt x="28447" y="0"/>
                  </a:moveTo>
                  <a:lnTo>
                    <a:pt x="28447" y="0"/>
                  </a:lnTo>
                  <a:cubicBezTo>
                    <a:pt x="44158" y="0"/>
                    <a:pt x="56894" y="12736"/>
                    <a:pt x="56894" y="28447"/>
                  </a:cubicBezTo>
                  <a:lnTo>
                    <a:pt x="56894" y="167449"/>
                  </a:lnTo>
                  <a:cubicBezTo>
                    <a:pt x="56894" y="183160"/>
                    <a:pt x="44158" y="195896"/>
                    <a:pt x="28447" y="195896"/>
                  </a:cubicBezTo>
                  <a:lnTo>
                    <a:pt x="28447" y="195896"/>
                  </a:lnTo>
                  <a:cubicBezTo>
                    <a:pt x="12736" y="195896"/>
                    <a:pt x="0" y="183160"/>
                    <a:pt x="0" y="167449"/>
                  </a:cubicBezTo>
                  <a:lnTo>
                    <a:pt x="0" y="28447"/>
                  </a:lnTo>
                  <a:cubicBezTo>
                    <a:pt x="0" y="12736"/>
                    <a:pt x="12736" y="0"/>
                    <a:pt x="28447" y="0"/>
                  </a:cubicBez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56894" cy="224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073616" y="4366856"/>
            <a:ext cx="2405106" cy="2069840"/>
            <a:chOff x="0" y="0"/>
            <a:chExt cx="1553335" cy="133680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53335" cy="1336804"/>
            </a:xfrm>
            <a:custGeom>
              <a:avLst/>
              <a:gdLst/>
              <a:ahLst/>
              <a:cxnLst/>
              <a:rect r="r" b="b" t="t" l="l"/>
              <a:pathLst>
                <a:path h="1336804" w="1553335">
                  <a:moveTo>
                    <a:pt x="0" y="0"/>
                  </a:moveTo>
                  <a:lnTo>
                    <a:pt x="1553335" y="0"/>
                  </a:lnTo>
                  <a:lnTo>
                    <a:pt x="1553335" y="1336804"/>
                  </a:lnTo>
                  <a:lnTo>
                    <a:pt x="0" y="1336804"/>
                  </a:lnTo>
                  <a:close/>
                </a:path>
              </a:pathLst>
            </a:custGeom>
            <a:blipFill>
              <a:blip r:embed="rId9"/>
              <a:stretch>
                <a:fillRect l="-24381" t="0" r="-4789" b="0"/>
              </a:stretch>
            </a:blipFill>
            <a:ln w="9525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9073616" y="6912284"/>
            <a:ext cx="2405106" cy="2069840"/>
            <a:chOff x="0" y="0"/>
            <a:chExt cx="1553335" cy="133680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53335" cy="1336804"/>
            </a:xfrm>
            <a:custGeom>
              <a:avLst/>
              <a:gdLst/>
              <a:ahLst/>
              <a:cxnLst/>
              <a:rect r="r" b="b" t="t" l="l"/>
              <a:pathLst>
                <a:path h="1336804" w="1553335">
                  <a:moveTo>
                    <a:pt x="0" y="0"/>
                  </a:moveTo>
                  <a:lnTo>
                    <a:pt x="1553335" y="0"/>
                  </a:lnTo>
                  <a:lnTo>
                    <a:pt x="1553335" y="1336804"/>
                  </a:lnTo>
                  <a:lnTo>
                    <a:pt x="0" y="1336804"/>
                  </a:lnTo>
                  <a:close/>
                </a:path>
              </a:pathLst>
            </a:custGeom>
            <a:blipFill>
              <a:blip r:embed="rId10"/>
              <a:stretch>
                <a:fillRect l="-14585" t="0" r="-14585" b="0"/>
              </a:stretch>
            </a:blipFill>
            <a:ln w="9525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210222" y="4366856"/>
            <a:ext cx="268500" cy="2069840"/>
            <a:chOff x="0" y="0"/>
            <a:chExt cx="78360" cy="6040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8360" cy="604068"/>
            </a:xfrm>
            <a:custGeom>
              <a:avLst/>
              <a:gdLst/>
              <a:ahLst/>
              <a:cxnLst/>
              <a:rect r="r" b="b" t="t" l="l"/>
              <a:pathLst>
                <a:path h="604068" w="78360">
                  <a:moveTo>
                    <a:pt x="0" y="0"/>
                  </a:moveTo>
                  <a:lnTo>
                    <a:pt x="78360" y="0"/>
                  </a:lnTo>
                  <a:lnTo>
                    <a:pt x="78360" y="604068"/>
                  </a:lnTo>
                  <a:lnTo>
                    <a:pt x="0" y="604068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78360" cy="63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210222" y="6912284"/>
            <a:ext cx="268500" cy="2069840"/>
            <a:chOff x="0" y="0"/>
            <a:chExt cx="78360" cy="60406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8360" cy="604068"/>
            </a:xfrm>
            <a:custGeom>
              <a:avLst/>
              <a:gdLst/>
              <a:ahLst/>
              <a:cxnLst/>
              <a:rect r="r" b="b" t="t" l="l"/>
              <a:pathLst>
                <a:path h="604068" w="78360">
                  <a:moveTo>
                    <a:pt x="0" y="0"/>
                  </a:moveTo>
                  <a:lnTo>
                    <a:pt x="78360" y="0"/>
                  </a:lnTo>
                  <a:lnTo>
                    <a:pt x="78360" y="604068"/>
                  </a:lnTo>
                  <a:lnTo>
                    <a:pt x="0" y="604068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78360" cy="63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246998" y="5265981"/>
            <a:ext cx="194947" cy="671236"/>
            <a:chOff x="0" y="0"/>
            <a:chExt cx="56894" cy="1958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6894" cy="195896"/>
            </a:xfrm>
            <a:custGeom>
              <a:avLst/>
              <a:gdLst/>
              <a:ahLst/>
              <a:cxnLst/>
              <a:rect r="r" b="b" t="t" l="l"/>
              <a:pathLst>
                <a:path h="195896" w="56894">
                  <a:moveTo>
                    <a:pt x="28447" y="0"/>
                  </a:moveTo>
                  <a:lnTo>
                    <a:pt x="28447" y="0"/>
                  </a:lnTo>
                  <a:cubicBezTo>
                    <a:pt x="44158" y="0"/>
                    <a:pt x="56894" y="12736"/>
                    <a:pt x="56894" y="28447"/>
                  </a:cubicBezTo>
                  <a:lnTo>
                    <a:pt x="56894" y="167449"/>
                  </a:lnTo>
                  <a:cubicBezTo>
                    <a:pt x="56894" y="183160"/>
                    <a:pt x="44158" y="195896"/>
                    <a:pt x="28447" y="195896"/>
                  </a:cubicBezTo>
                  <a:lnTo>
                    <a:pt x="28447" y="195896"/>
                  </a:lnTo>
                  <a:cubicBezTo>
                    <a:pt x="12736" y="195896"/>
                    <a:pt x="0" y="183160"/>
                    <a:pt x="0" y="167449"/>
                  </a:cubicBezTo>
                  <a:lnTo>
                    <a:pt x="0" y="28447"/>
                  </a:lnTo>
                  <a:cubicBezTo>
                    <a:pt x="0" y="12736"/>
                    <a:pt x="12736" y="0"/>
                    <a:pt x="28447" y="0"/>
                  </a:cubicBez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56894" cy="224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246998" y="8197344"/>
            <a:ext cx="194947" cy="671236"/>
            <a:chOff x="0" y="0"/>
            <a:chExt cx="56894" cy="1958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6894" cy="195896"/>
            </a:xfrm>
            <a:custGeom>
              <a:avLst/>
              <a:gdLst/>
              <a:ahLst/>
              <a:cxnLst/>
              <a:rect r="r" b="b" t="t" l="l"/>
              <a:pathLst>
                <a:path h="195896" w="56894">
                  <a:moveTo>
                    <a:pt x="28447" y="0"/>
                  </a:moveTo>
                  <a:lnTo>
                    <a:pt x="28447" y="0"/>
                  </a:lnTo>
                  <a:cubicBezTo>
                    <a:pt x="44158" y="0"/>
                    <a:pt x="56894" y="12736"/>
                    <a:pt x="56894" y="28447"/>
                  </a:cubicBezTo>
                  <a:lnTo>
                    <a:pt x="56894" y="167449"/>
                  </a:lnTo>
                  <a:cubicBezTo>
                    <a:pt x="56894" y="183160"/>
                    <a:pt x="44158" y="195896"/>
                    <a:pt x="28447" y="195896"/>
                  </a:cubicBezTo>
                  <a:lnTo>
                    <a:pt x="28447" y="195896"/>
                  </a:lnTo>
                  <a:cubicBezTo>
                    <a:pt x="12736" y="195896"/>
                    <a:pt x="0" y="183160"/>
                    <a:pt x="0" y="167449"/>
                  </a:cubicBezTo>
                  <a:lnTo>
                    <a:pt x="0" y="28447"/>
                  </a:lnTo>
                  <a:cubicBezTo>
                    <a:pt x="0" y="12736"/>
                    <a:pt x="12736" y="0"/>
                    <a:pt x="28447" y="0"/>
                  </a:cubicBez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56894" cy="224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028700" y="1699338"/>
            <a:ext cx="7896631" cy="228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true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TECHNOLOGY USED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977694" y="4880430"/>
            <a:ext cx="6232207" cy="103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(JDK 24) used for development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Swing Framework used for GUI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Lite used for databases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610283" y="4461734"/>
            <a:ext cx="6620358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Programming Languages and Framework: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2613527" y="2538429"/>
            <a:ext cx="4858893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(Java Database Connectivity) used to connect program to database.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2630142" y="5069692"/>
            <a:ext cx="4858893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Apache Netbeans IDE used for development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PowerShell for compiling the code.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2630142" y="7620005"/>
            <a:ext cx="4858893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JAR Files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Batch Scripts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2246116" y="2119734"/>
            <a:ext cx="3741410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Database Connectivity: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2262731" y="4650996"/>
            <a:ext cx="3741410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Development Tools: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2262731" y="7201309"/>
            <a:ext cx="3741410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46E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Deployment: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5157" y="981075"/>
            <a:ext cx="1829031" cy="47625"/>
            <a:chOff x="0" y="0"/>
            <a:chExt cx="486798" cy="126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427938" y="1028700"/>
            <a:ext cx="9953892" cy="8727066"/>
          </a:xfrm>
          <a:custGeom>
            <a:avLst/>
            <a:gdLst/>
            <a:ahLst/>
            <a:cxnLst/>
            <a:rect r="r" b="b" t="t" l="l"/>
            <a:pathLst>
              <a:path h="8727066" w="9953892">
                <a:moveTo>
                  <a:pt x="0" y="0"/>
                </a:moveTo>
                <a:lnTo>
                  <a:pt x="9953892" y="0"/>
                </a:lnTo>
                <a:lnTo>
                  <a:pt x="9953892" y="8727066"/>
                </a:lnTo>
                <a:lnTo>
                  <a:pt x="0" y="87270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86" t="-12559" r="-7828" b="-4188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658544" y="621396"/>
            <a:ext cx="113107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3957" y="981075"/>
            <a:ext cx="1829031" cy="47625"/>
            <a:chOff x="0" y="0"/>
            <a:chExt cx="486798" cy="126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9073362" y="4384250"/>
            <a:ext cx="814474" cy="699939"/>
            <a:chOff x="0" y="0"/>
            <a:chExt cx="812800" cy="6985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48117" y="4384250"/>
            <a:ext cx="814474" cy="699939"/>
            <a:chOff x="0" y="0"/>
            <a:chExt cx="812800" cy="6985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522927" y="7435567"/>
            <a:ext cx="814474" cy="699939"/>
            <a:chOff x="0" y="0"/>
            <a:chExt cx="812800" cy="6985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697681" y="7435567"/>
            <a:ext cx="814474" cy="699939"/>
            <a:chOff x="0" y="0"/>
            <a:chExt cx="812800" cy="6985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109755" y="8707006"/>
            <a:ext cx="814474" cy="699939"/>
            <a:chOff x="0" y="0"/>
            <a:chExt cx="812800" cy="6985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797615" y="8707006"/>
            <a:ext cx="814474" cy="699939"/>
            <a:chOff x="0" y="0"/>
            <a:chExt cx="812800" cy="6985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86421" y="8707006"/>
            <a:ext cx="814474" cy="699939"/>
            <a:chOff x="0" y="0"/>
            <a:chExt cx="812800" cy="6985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175227" y="8707006"/>
            <a:ext cx="814474" cy="699939"/>
            <a:chOff x="0" y="0"/>
            <a:chExt cx="812800" cy="6985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990607" y="4384250"/>
            <a:ext cx="814474" cy="699939"/>
            <a:chOff x="0" y="0"/>
            <a:chExt cx="812800" cy="6985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165361" y="4384250"/>
            <a:ext cx="814474" cy="699939"/>
            <a:chOff x="0" y="0"/>
            <a:chExt cx="812800" cy="6985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440171" y="7435567"/>
            <a:ext cx="814474" cy="699939"/>
            <a:chOff x="0" y="0"/>
            <a:chExt cx="812800" cy="6985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823076" y="4384250"/>
            <a:ext cx="814474" cy="699939"/>
            <a:chOff x="0" y="0"/>
            <a:chExt cx="812800" cy="6985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907420" y="4384250"/>
            <a:ext cx="814474" cy="699939"/>
            <a:chOff x="0" y="0"/>
            <a:chExt cx="812800" cy="6985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3082175" y="4384250"/>
            <a:ext cx="814474" cy="699939"/>
            <a:chOff x="0" y="0"/>
            <a:chExt cx="812800" cy="6985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9276901" y="4492026"/>
            <a:ext cx="407397" cy="457200"/>
          </a:xfrm>
          <a:custGeom>
            <a:avLst/>
            <a:gdLst/>
            <a:ahLst/>
            <a:cxnLst/>
            <a:rect r="r" b="b" t="t" l="l"/>
            <a:pathLst>
              <a:path h="457200" w="407397">
                <a:moveTo>
                  <a:pt x="0" y="0"/>
                </a:moveTo>
                <a:lnTo>
                  <a:pt x="407397" y="0"/>
                </a:lnTo>
                <a:lnTo>
                  <a:pt x="40739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1451655" y="4492026"/>
            <a:ext cx="407397" cy="457200"/>
          </a:xfrm>
          <a:custGeom>
            <a:avLst/>
            <a:gdLst/>
            <a:ahLst/>
            <a:cxnLst/>
            <a:rect r="r" b="b" t="t" l="l"/>
            <a:pathLst>
              <a:path h="457200" w="407397">
                <a:moveTo>
                  <a:pt x="0" y="0"/>
                </a:moveTo>
                <a:lnTo>
                  <a:pt x="407397" y="0"/>
                </a:lnTo>
                <a:lnTo>
                  <a:pt x="40739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11726466" y="7543344"/>
            <a:ext cx="407397" cy="457200"/>
          </a:xfrm>
          <a:custGeom>
            <a:avLst/>
            <a:gdLst/>
            <a:ahLst/>
            <a:cxnLst/>
            <a:rect r="r" b="b" t="t" l="l"/>
            <a:pathLst>
              <a:path h="457200" w="407397">
                <a:moveTo>
                  <a:pt x="0" y="0"/>
                </a:moveTo>
                <a:lnTo>
                  <a:pt x="407396" y="0"/>
                </a:lnTo>
                <a:lnTo>
                  <a:pt x="407396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3901220" y="7543344"/>
            <a:ext cx="407397" cy="457200"/>
          </a:xfrm>
          <a:custGeom>
            <a:avLst/>
            <a:gdLst/>
            <a:ahLst/>
            <a:cxnLst/>
            <a:rect r="r" b="b" t="t" l="l"/>
            <a:pathLst>
              <a:path h="457200" w="407397">
                <a:moveTo>
                  <a:pt x="0" y="0"/>
                </a:moveTo>
                <a:lnTo>
                  <a:pt x="407397" y="0"/>
                </a:lnTo>
                <a:lnTo>
                  <a:pt x="40739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2313293" y="8814782"/>
            <a:ext cx="407397" cy="457200"/>
          </a:xfrm>
          <a:custGeom>
            <a:avLst/>
            <a:gdLst/>
            <a:ahLst/>
            <a:cxnLst/>
            <a:rect r="r" b="b" t="t" l="l"/>
            <a:pathLst>
              <a:path h="457200" w="407397">
                <a:moveTo>
                  <a:pt x="0" y="0"/>
                </a:moveTo>
                <a:lnTo>
                  <a:pt x="407397" y="0"/>
                </a:lnTo>
                <a:lnTo>
                  <a:pt x="40739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12697291" y="7572736"/>
            <a:ext cx="309760" cy="425601"/>
          </a:xfrm>
          <a:custGeom>
            <a:avLst/>
            <a:gdLst/>
            <a:ahLst/>
            <a:cxnLst/>
            <a:rect r="r" b="b" t="t" l="l"/>
            <a:pathLst>
              <a:path h="425601" w="309760">
                <a:moveTo>
                  <a:pt x="0" y="0"/>
                </a:moveTo>
                <a:lnTo>
                  <a:pt x="309760" y="0"/>
                </a:lnTo>
                <a:lnTo>
                  <a:pt x="309760" y="425601"/>
                </a:lnTo>
                <a:lnTo>
                  <a:pt x="0" y="425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912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6050445" y="8846381"/>
            <a:ext cx="309760" cy="425601"/>
          </a:xfrm>
          <a:custGeom>
            <a:avLst/>
            <a:gdLst/>
            <a:ahLst/>
            <a:cxnLst/>
            <a:rect r="r" b="b" t="t" l="l"/>
            <a:pathLst>
              <a:path h="425601" w="309760">
                <a:moveTo>
                  <a:pt x="0" y="0"/>
                </a:moveTo>
                <a:lnTo>
                  <a:pt x="309760" y="0"/>
                </a:lnTo>
                <a:lnTo>
                  <a:pt x="309760" y="425601"/>
                </a:lnTo>
                <a:lnTo>
                  <a:pt x="0" y="425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912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2417503" y="4523625"/>
            <a:ext cx="309760" cy="425601"/>
          </a:xfrm>
          <a:custGeom>
            <a:avLst/>
            <a:gdLst/>
            <a:ahLst/>
            <a:cxnLst/>
            <a:rect r="r" b="b" t="t" l="l"/>
            <a:pathLst>
              <a:path h="425601" w="309760">
                <a:moveTo>
                  <a:pt x="0" y="0"/>
                </a:moveTo>
                <a:lnTo>
                  <a:pt x="309760" y="0"/>
                </a:lnTo>
                <a:lnTo>
                  <a:pt x="309760" y="425601"/>
                </a:lnTo>
                <a:lnTo>
                  <a:pt x="0" y="425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912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10240261" y="4523625"/>
            <a:ext cx="309760" cy="425601"/>
          </a:xfrm>
          <a:custGeom>
            <a:avLst/>
            <a:gdLst/>
            <a:ahLst/>
            <a:cxnLst/>
            <a:rect r="r" b="b" t="t" l="l"/>
            <a:pathLst>
              <a:path h="425601" w="309760">
                <a:moveTo>
                  <a:pt x="0" y="0"/>
                </a:moveTo>
                <a:lnTo>
                  <a:pt x="309760" y="0"/>
                </a:lnTo>
                <a:lnTo>
                  <a:pt x="309760" y="425601"/>
                </a:lnTo>
                <a:lnTo>
                  <a:pt x="0" y="425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912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11123794" y="4554516"/>
            <a:ext cx="379412" cy="359407"/>
          </a:xfrm>
          <a:custGeom>
            <a:avLst/>
            <a:gdLst/>
            <a:ahLst/>
            <a:cxnLst/>
            <a:rect r="r" b="b" t="t" l="l"/>
            <a:pathLst>
              <a:path h="359407" w="379412">
                <a:moveTo>
                  <a:pt x="0" y="0"/>
                </a:moveTo>
                <a:lnTo>
                  <a:pt x="379412" y="0"/>
                </a:lnTo>
                <a:lnTo>
                  <a:pt x="379412" y="359407"/>
                </a:lnTo>
                <a:lnTo>
                  <a:pt x="0" y="359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9715781" y="8879478"/>
            <a:ext cx="379412" cy="359407"/>
          </a:xfrm>
          <a:custGeom>
            <a:avLst/>
            <a:gdLst/>
            <a:ahLst/>
            <a:cxnLst/>
            <a:rect r="r" b="b" t="t" l="l"/>
            <a:pathLst>
              <a:path h="359407" w="379412">
                <a:moveTo>
                  <a:pt x="0" y="0"/>
                </a:moveTo>
                <a:lnTo>
                  <a:pt x="379413" y="0"/>
                </a:lnTo>
                <a:lnTo>
                  <a:pt x="379413" y="359407"/>
                </a:lnTo>
                <a:lnTo>
                  <a:pt x="0" y="359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3298548" y="4554516"/>
            <a:ext cx="379412" cy="359407"/>
          </a:xfrm>
          <a:custGeom>
            <a:avLst/>
            <a:gdLst/>
            <a:ahLst/>
            <a:cxnLst/>
            <a:rect r="r" b="b" t="t" l="l"/>
            <a:pathLst>
              <a:path h="359407" w="379412">
                <a:moveTo>
                  <a:pt x="0" y="0"/>
                </a:moveTo>
                <a:lnTo>
                  <a:pt x="379413" y="0"/>
                </a:lnTo>
                <a:lnTo>
                  <a:pt x="379413" y="359407"/>
                </a:lnTo>
                <a:lnTo>
                  <a:pt x="0" y="359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9365506" y="2642471"/>
            <a:ext cx="251599" cy="251599"/>
            <a:chOff x="0" y="0"/>
            <a:chExt cx="66265" cy="66265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540261" y="2642471"/>
            <a:ext cx="251599" cy="251599"/>
            <a:chOff x="0" y="0"/>
            <a:chExt cx="66265" cy="6626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815071" y="5693788"/>
            <a:ext cx="251599" cy="251599"/>
            <a:chOff x="0" y="0"/>
            <a:chExt cx="66265" cy="6626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3989826" y="5693788"/>
            <a:ext cx="251599" cy="251599"/>
            <a:chOff x="0" y="0"/>
            <a:chExt cx="66265" cy="6626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0" id="130"/>
          <p:cNvSpPr/>
          <p:nvPr/>
        </p:nvSpPr>
        <p:spPr>
          <a:xfrm>
            <a:off x="9481781" y="2894070"/>
            <a:ext cx="0" cy="1490180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1" id="131"/>
          <p:cNvSpPr/>
          <p:nvPr/>
        </p:nvSpPr>
        <p:spPr>
          <a:xfrm>
            <a:off x="1656535" y="2894070"/>
            <a:ext cx="0" cy="1490180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2" id="132"/>
          <p:cNvSpPr/>
          <p:nvPr/>
        </p:nvSpPr>
        <p:spPr>
          <a:xfrm>
            <a:off x="11931346" y="5945387"/>
            <a:ext cx="0" cy="1490180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3" id="133"/>
          <p:cNvSpPr/>
          <p:nvPr/>
        </p:nvSpPr>
        <p:spPr>
          <a:xfrm>
            <a:off x="4106100" y="5945387"/>
            <a:ext cx="0" cy="1490180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4" id="134"/>
          <p:cNvSpPr/>
          <p:nvPr/>
        </p:nvSpPr>
        <p:spPr>
          <a:xfrm flipH="true" flipV="true">
            <a:off x="9480599" y="3966124"/>
            <a:ext cx="922007" cy="418126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5" id="135"/>
          <p:cNvSpPr/>
          <p:nvPr/>
        </p:nvSpPr>
        <p:spPr>
          <a:xfrm flipH="true" flipV="true">
            <a:off x="1655354" y="3966124"/>
            <a:ext cx="922007" cy="418126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6" id="136"/>
          <p:cNvSpPr/>
          <p:nvPr/>
        </p:nvSpPr>
        <p:spPr>
          <a:xfrm flipH="true" flipV="true">
            <a:off x="11930164" y="7017441"/>
            <a:ext cx="922007" cy="418126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7" id="137"/>
          <p:cNvSpPr/>
          <p:nvPr/>
        </p:nvSpPr>
        <p:spPr>
          <a:xfrm flipH="true" flipV="true">
            <a:off x="9480599" y="3970887"/>
            <a:ext cx="1834058" cy="413363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8" id="138"/>
          <p:cNvSpPr/>
          <p:nvPr/>
        </p:nvSpPr>
        <p:spPr>
          <a:xfrm flipH="true" flipV="true">
            <a:off x="1655354" y="3970887"/>
            <a:ext cx="1834058" cy="413363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9" id="139"/>
          <p:cNvSpPr/>
          <p:nvPr/>
        </p:nvSpPr>
        <p:spPr>
          <a:xfrm flipH="true" flipV="true">
            <a:off x="9480599" y="3970887"/>
            <a:ext cx="2749714" cy="413363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0" id="140"/>
          <p:cNvSpPr/>
          <p:nvPr/>
        </p:nvSpPr>
        <p:spPr>
          <a:xfrm flipH="false" flipV="false" rot="0">
            <a:off x="12044589" y="4556323"/>
            <a:ext cx="371450" cy="355793"/>
          </a:xfrm>
          <a:custGeom>
            <a:avLst/>
            <a:gdLst/>
            <a:ahLst/>
            <a:cxnLst/>
            <a:rect r="r" b="b" t="t" l="l"/>
            <a:pathLst>
              <a:path h="355793" w="371450">
                <a:moveTo>
                  <a:pt x="0" y="0"/>
                </a:moveTo>
                <a:lnTo>
                  <a:pt x="371449" y="0"/>
                </a:lnTo>
                <a:lnTo>
                  <a:pt x="371449" y="355793"/>
                </a:lnTo>
                <a:lnTo>
                  <a:pt x="0" y="3557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1" id="141"/>
          <p:cNvSpPr/>
          <p:nvPr/>
        </p:nvSpPr>
        <p:spPr>
          <a:xfrm flipH="false" flipV="false" rot="0">
            <a:off x="13396739" y="8873567"/>
            <a:ext cx="371450" cy="355793"/>
          </a:xfrm>
          <a:custGeom>
            <a:avLst/>
            <a:gdLst/>
            <a:ahLst/>
            <a:cxnLst/>
            <a:rect r="r" b="b" t="t" l="l"/>
            <a:pathLst>
              <a:path h="355793" w="371450">
                <a:moveTo>
                  <a:pt x="0" y="0"/>
                </a:moveTo>
                <a:lnTo>
                  <a:pt x="371450" y="0"/>
                </a:lnTo>
                <a:lnTo>
                  <a:pt x="371450" y="355793"/>
                </a:lnTo>
                <a:lnTo>
                  <a:pt x="0" y="3557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2" id="142"/>
          <p:cNvSpPr txBox="true"/>
          <p:nvPr/>
        </p:nvSpPr>
        <p:spPr>
          <a:xfrm rot="0">
            <a:off x="1277381" y="1330503"/>
            <a:ext cx="16608388" cy="10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7400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Front and Back End Deep Dive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9859661" y="3010834"/>
            <a:ext cx="824183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Provides the user interface for the chat application.</a:t>
            </a: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Connects to the server's IP address and port. Manages two main views: Authentication Panel and Chat Panel. Sends user input (credentials, chat messages) to the server.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56" id="156"/>
          <p:cNvSpPr txBox="true"/>
          <p:nvPr/>
        </p:nvSpPr>
        <p:spPr>
          <a:xfrm rot="0">
            <a:off x="2109755" y="3010834"/>
            <a:ext cx="612088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Listens to oncoming connections through port. Authenticates users by interacting with DatabaseHelper. Broadcasts messages to all clients.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2230313" y="6062151"/>
            <a:ext cx="5806931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Utilizes Nimbus Look and Feel for a modern appearance. Improved layout with padding and spacing. Automatic scrolling of chat area to new messages.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58" id="158"/>
          <p:cNvSpPr txBox="true"/>
          <p:nvPr/>
        </p:nvSpPr>
        <p:spPr>
          <a:xfrm rot="0">
            <a:off x="4572579" y="6062151"/>
            <a:ext cx="511171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Manages chat.db (SQLite). Handles user registration (adds to users table). Validates user credentials for login.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3099527" y="8884584"/>
            <a:ext cx="19656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Server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6787387" y="8884584"/>
            <a:ext cx="236379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 Helper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0476194" y="8884584"/>
            <a:ext cx="252758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Client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4165000" y="8884584"/>
            <a:ext cx="293216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44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9935000" y="2613896"/>
            <a:ext cx="3608387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ChatClient.java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2109755" y="2613896"/>
            <a:ext cx="3608387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ChatServer.java: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12384565" y="5665213"/>
            <a:ext cx="3608387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GUI Enhancements: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4559320" y="5665213"/>
            <a:ext cx="3608387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DatabaseHelper.java: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2569" y="1699338"/>
            <a:ext cx="12235445" cy="122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true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IT WORKS: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03220" y="981075"/>
            <a:ext cx="1829031" cy="47625"/>
            <a:chOff x="0" y="0"/>
            <a:chExt cx="486798" cy="126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0313665" y="3164559"/>
            <a:ext cx="7419251" cy="2190495"/>
            <a:chOff x="0" y="0"/>
            <a:chExt cx="737507" cy="21774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7507" cy="217745"/>
            </a:xfrm>
            <a:custGeom>
              <a:avLst/>
              <a:gdLst/>
              <a:ahLst/>
              <a:cxnLst/>
              <a:rect r="r" b="b" t="t" l="l"/>
              <a:pathLst>
                <a:path h="217745" w="737507">
                  <a:moveTo>
                    <a:pt x="0" y="0"/>
                  </a:moveTo>
                  <a:lnTo>
                    <a:pt x="737507" y="0"/>
                  </a:lnTo>
                  <a:lnTo>
                    <a:pt x="737507" y="217745"/>
                  </a:lnTo>
                  <a:lnTo>
                    <a:pt x="0" y="217745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737507" cy="246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425197" y="3277227"/>
            <a:ext cx="7189590" cy="1967889"/>
            <a:chOff x="0" y="0"/>
            <a:chExt cx="4643390" cy="12709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643390" cy="1270959"/>
            </a:xfrm>
            <a:custGeom>
              <a:avLst/>
              <a:gdLst/>
              <a:ahLst/>
              <a:cxnLst/>
              <a:rect r="r" b="b" t="t" l="l"/>
              <a:pathLst>
                <a:path h="1270959" w="4643390">
                  <a:moveTo>
                    <a:pt x="0" y="0"/>
                  </a:moveTo>
                  <a:lnTo>
                    <a:pt x="4643390" y="0"/>
                  </a:lnTo>
                  <a:lnTo>
                    <a:pt x="4643390" y="1270959"/>
                  </a:lnTo>
                  <a:lnTo>
                    <a:pt x="0" y="1270959"/>
                  </a:lnTo>
                  <a:close/>
                </a:path>
              </a:pathLst>
            </a:custGeom>
            <a:blipFill>
              <a:blip r:embed="rId8"/>
              <a:stretch>
                <a:fillRect l="0" t="-27727" r="0" b="-116140"/>
              </a:stretch>
            </a:blipFill>
            <a:ln w="9525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7346729" y="3277227"/>
            <a:ext cx="268058" cy="1967889"/>
            <a:chOff x="0" y="0"/>
            <a:chExt cx="93730" cy="68810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3730" cy="688101"/>
            </a:xfrm>
            <a:custGeom>
              <a:avLst/>
              <a:gdLst/>
              <a:ahLst/>
              <a:cxnLst/>
              <a:rect r="r" b="b" t="t" l="l"/>
              <a:pathLst>
                <a:path h="688101" w="93730">
                  <a:moveTo>
                    <a:pt x="0" y="0"/>
                  </a:moveTo>
                  <a:lnTo>
                    <a:pt x="93730" y="0"/>
                  </a:lnTo>
                  <a:lnTo>
                    <a:pt x="93730" y="688101"/>
                  </a:lnTo>
                  <a:lnTo>
                    <a:pt x="0" y="688101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93730" cy="716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383445" y="3518655"/>
            <a:ext cx="194626" cy="585175"/>
            <a:chOff x="0" y="0"/>
            <a:chExt cx="68054" cy="20461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8054" cy="204615"/>
            </a:xfrm>
            <a:custGeom>
              <a:avLst/>
              <a:gdLst/>
              <a:ahLst/>
              <a:cxnLst/>
              <a:rect r="r" b="b" t="t" l="l"/>
              <a:pathLst>
                <a:path h="204615" w="68054">
                  <a:moveTo>
                    <a:pt x="34027" y="0"/>
                  </a:moveTo>
                  <a:lnTo>
                    <a:pt x="34027" y="0"/>
                  </a:lnTo>
                  <a:cubicBezTo>
                    <a:pt x="43051" y="0"/>
                    <a:pt x="51706" y="3585"/>
                    <a:pt x="58087" y="9966"/>
                  </a:cubicBezTo>
                  <a:cubicBezTo>
                    <a:pt x="64469" y="16348"/>
                    <a:pt x="68054" y="25002"/>
                    <a:pt x="68054" y="34027"/>
                  </a:cubicBezTo>
                  <a:lnTo>
                    <a:pt x="68054" y="170588"/>
                  </a:lnTo>
                  <a:cubicBezTo>
                    <a:pt x="68054" y="189380"/>
                    <a:pt x="52819" y="204615"/>
                    <a:pt x="34027" y="204615"/>
                  </a:cubicBezTo>
                  <a:lnTo>
                    <a:pt x="34027" y="204615"/>
                  </a:lnTo>
                  <a:cubicBezTo>
                    <a:pt x="15234" y="204615"/>
                    <a:pt x="0" y="189380"/>
                    <a:pt x="0" y="170588"/>
                  </a:cubicBezTo>
                  <a:lnTo>
                    <a:pt x="0" y="34027"/>
                  </a:lnTo>
                  <a:cubicBezTo>
                    <a:pt x="0" y="15234"/>
                    <a:pt x="15234" y="0"/>
                    <a:pt x="34027" y="0"/>
                  </a:cubicBez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68054" cy="23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25782" y="5846775"/>
            <a:ext cx="251599" cy="251599"/>
            <a:chOff x="0" y="0"/>
            <a:chExt cx="66265" cy="6626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25782" y="3370935"/>
            <a:ext cx="251599" cy="251599"/>
            <a:chOff x="0" y="0"/>
            <a:chExt cx="66265" cy="6626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4" id="94"/>
          <p:cNvSpPr/>
          <p:nvPr/>
        </p:nvSpPr>
        <p:spPr>
          <a:xfrm>
            <a:off x="1142056" y="6098374"/>
            <a:ext cx="0" cy="786559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>
            <a:off x="1142056" y="3622534"/>
            <a:ext cx="0" cy="1491343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6" id="96"/>
          <p:cNvSpPr txBox="true"/>
          <p:nvPr/>
        </p:nvSpPr>
        <p:spPr>
          <a:xfrm rot="0">
            <a:off x="1716113" y="6202374"/>
            <a:ext cx="15487513" cy="209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49" b="true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Authentication: 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Client sends LOGIN_REQUEST / REGISTER_REQUEST. Server receives, DatabaseHelper validates/registers user. Server sends LOGIN_SUCCESS / REGISTER_FAILED back to Client.</a:t>
            </a:r>
          </a:p>
          <a:p>
            <a:pPr algn="l">
              <a:lnSpc>
                <a:spcPts val="2799"/>
              </a:lnSpc>
            </a:pPr>
            <a:r>
              <a:rPr lang="en-US" sz="1999" spc="49" b="true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Chatting: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Logged-in Client sends chat message. Server receives, prefixes with username. Server broadcastMessage to all other logged-in Clients. Clients receive and display message in JTextArea.</a:t>
            </a: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97" id="97"/>
          <p:cNvSpPr txBox="true"/>
          <p:nvPr/>
        </p:nvSpPr>
        <p:spPr>
          <a:xfrm rot="0">
            <a:off x="1716113" y="3726534"/>
            <a:ext cx="7954099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49" b="true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Launch: 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launch_chat.bat starts server in background and after 15 seconds starts the client GUI.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Connections: 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Connects clients to the server on port 12345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610283" y="5783678"/>
            <a:ext cx="77124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Authentication and Chatting: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610283" y="3307838"/>
            <a:ext cx="77124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Launch and Connection: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2569" y="1699338"/>
            <a:ext cx="8287092" cy="122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true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629937" y="981075"/>
            <a:ext cx="1829031" cy="47625"/>
            <a:chOff x="0" y="0"/>
            <a:chExt cx="486798" cy="126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025782" y="3316582"/>
            <a:ext cx="251599" cy="251599"/>
            <a:chOff x="0" y="0"/>
            <a:chExt cx="66265" cy="6626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5782" y="5467561"/>
            <a:ext cx="251599" cy="251599"/>
            <a:chOff x="0" y="0"/>
            <a:chExt cx="66265" cy="6626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265" cy="66265"/>
            </a:xfrm>
            <a:custGeom>
              <a:avLst/>
              <a:gdLst/>
              <a:ahLst/>
              <a:cxnLst/>
              <a:rect r="r" b="b" t="t" l="l"/>
              <a:pathLst>
                <a:path h="66265" w="66265">
                  <a:moveTo>
                    <a:pt x="0" y="0"/>
                  </a:moveTo>
                  <a:lnTo>
                    <a:pt x="66265" y="0"/>
                  </a:lnTo>
                  <a:lnTo>
                    <a:pt x="66265" y="66265"/>
                  </a:lnTo>
                  <a:lnTo>
                    <a:pt x="0" y="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D4EDD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66265" cy="9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3" id="83"/>
          <p:cNvSpPr/>
          <p:nvPr/>
        </p:nvSpPr>
        <p:spPr>
          <a:xfrm>
            <a:off x="1142056" y="3566250"/>
            <a:ext cx="0" cy="786559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1132531" y="5717556"/>
            <a:ext cx="0" cy="786559"/>
          </a:xfrm>
          <a:prstGeom prst="line">
            <a:avLst/>
          </a:prstGeom>
          <a:ln cap="rnd" w="19050">
            <a:solidFill>
              <a:srgbClr val="9D4E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5" id="85"/>
          <p:cNvSpPr txBox="true"/>
          <p:nvPr/>
        </p:nvSpPr>
        <p:spPr>
          <a:xfrm rot="0">
            <a:off x="1610283" y="3670250"/>
            <a:ext cx="9253647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Fundamental client-server communication. Basic user authentication and persistence with SQLite. Concurrent programming in Java. GUI development with Swing.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86" id="86"/>
          <p:cNvSpPr txBox="true"/>
          <p:nvPr/>
        </p:nvSpPr>
        <p:spPr>
          <a:xfrm rot="0">
            <a:off x="1610283" y="5891809"/>
            <a:ext cx="9253647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 spc="49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Enhanced Security: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Password hashing &amp; salting, SSL/TLS encryption for communication.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 spc="49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Extended Chat Features: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Private messaging, online user list, message history, file sharing.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 spc="49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Improved Scalability: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Migrate to a more robust database (e.g., MySQL), advanced server architecture.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 spc="49">
                <a:solidFill>
                  <a:srgbClr val="E1E1E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Advanced GUI:</a:t>
            </a:r>
            <a:r>
              <a:rPr lang="en-US" sz="1999" spc="49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 Custom themes, notifications, user profiles.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610283" y="3251555"/>
            <a:ext cx="9504760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49" b="true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Successfully developed a functional Java chat application demonstrating: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88" id="88"/>
          <p:cNvSpPr txBox="true"/>
          <p:nvPr/>
        </p:nvSpPr>
        <p:spPr>
          <a:xfrm rot="0">
            <a:off x="1610283" y="5456867"/>
            <a:ext cx="77124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49">
                <a:solidFill>
                  <a:srgbClr val="26C8A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Future Enhancements: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2148"/>
            <a:chOff x="0" y="0"/>
            <a:chExt cx="4816593" cy="13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74852"/>
            <a:ext cx="18288000" cy="512148"/>
            <a:chOff x="0" y="0"/>
            <a:chExt cx="4816593" cy="134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4887"/>
            </a:xfrm>
            <a:custGeom>
              <a:avLst/>
              <a:gdLst/>
              <a:ahLst/>
              <a:cxnLst/>
              <a:rect r="r" b="b" t="t" l="l"/>
              <a:pathLst>
                <a:path h="1348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4887"/>
                  </a:lnTo>
                  <a:lnTo>
                    <a:pt x="0" y="134887"/>
                  </a:lnTo>
                  <a:close/>
                </a:path>
              </a:pathLst>
            </a:custGeom>
            <a:solidFill>
              <a:srgbClr val="2E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85769" y="148213"/>
            <a:ext cx="215722" cy="215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43173" y="148213"/>
            <a:ext cx="215722" cy="215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03626" y="148213"/>
            <a:ext cx="215722" cy="215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512148"/>
            <a:ext cx="1829031" cy="511164"/>
            <a:chOff x="0" y="0"/>
            <a:chExt cx="486798" cy="136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6126" y="512148"/>
            <a:ext cx="1829031" cy="511164"/>
            <a:chOff x="0" y="0"/>
            <a:chExt cx="486798" cy="136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8063" y="512148"/>
            <a:ext cx="1829031" cy="511164"/>
            <a:chOff x="0" y="0"/>
            <a:chExt cx="486798" cy="13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4189" y="512148"/>
            <a:ext cx="1829031" cy="511164"/>
            <a:chOff x="0" y="0"/>
            <a:chExt cx="486798" cy="1360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937" y="512148"/>
            <a:ext cx="1829031" cy="511164"/>
            <a:chOff x="0" y="0"/>
            <a:chExt cx="486798" cy="1360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9031" y="512148"/>
            <a:ext cx="1829031" cy="511164"/>
            <a:chOff x="0" y="0"/>
            <a:chExt cx="486798" cy="136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5157" y="512148"/>
            <a:ext cx="1829031" cy="511164"/>
            <a:chOff x="0" y="0"/>
            <a:chExt cx="486798" cy="136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87094" y="512148"/>
            <a:ext cx="1829031" cy="511164"/>
            <a:chOff x="0" y="0"/>
            <a:chExt cx="486798" cy="1360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803220" y="512148"/>
            <a:ext cx="1829031" cy="511164"/>
            <a:chOff x="0" y="0"/>
            <a:chExt cx="486798" cy="1360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458969" y="512148"/>
            <a:ext cx="1829031" cy="511164"/>
            <a:chOff x="0" y="0"/>
            <a:chExt cx="486798" cy="1360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6798" cy="136047"/>
            </a:xfrm>
            <a:custGeom>
              <a:avLst/>
              <a:gdLst/>
              <a:ahLst/>
              <a:cxnLst/>
              <a:rect r="r" b="b" t="t" l="l"/>
              <a:pathLst>
                <a:path h="136047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36047"/>
                  </a:lnTo>
                  <a:lnTo>
                    <a:pt x="0" y="136047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6798" cy="16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8969" y="981075"/>
            <a:ext cx="1829031" cy="47625"/>
            <a:chOff x="0" y="0"/>
            <a:chExt cx="486798" cy="126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798" cy="12675"/>
            </a:xfrm>
            <a:custGeom>
              <a:avLst/>
              <a:gdLst/>
              <a:ahLst/>
              <a:cxnLst/>
              <a:rect r="r" b="b" t="t" l="l"/>
              <a:pathLst>
                <a:path h="12675" w="486798">
                  <a:moveTo>
                    <a:pt x="0" y="0"/>
                  </a:moveTo>
                  <a:lnTo>
                    <a:pt x="486798" y="0"/>
                  </a:lnTo>
                  <a:lnTo>
                    <a:pt x="486798" y="12675"/>
                  </a:lnTo>
                  <a:lnTo>
                    <a:pt x="0" y="12675"/>
                  </a:lnTo>
                  <a:close/>
                </a:path>
              </a:pathLst>
            </a:custGeom>
            <a:solidFill>
              <a:srgbClr val="15C867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86798" cy="4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44730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95954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416038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27869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790926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247425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82883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595120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076122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7902839" y="633325"/>
            <a:ext cx="268810" cy="268810"/>
          </a:xfrm>
          <a:custGeom>
            <a:avLst/>
            <a:gdLst/>
            <a:ahLst/>
            <a:cxnLst/>
            <a:rect r="r" b="b" t="t" l="l"/>
            <a:pathLst>
              <a:path h="268810" w="268810">
                <a:moveTo>
                  <a:pt x="0" y="0"/>
                </a:moveTo>
                <a:lnTo>
                  <a:pt x="268810" y="0"/>
                </a:lnTo>
                <a:lnTo>
                  <a:pt x="268810" y="268810"/>
                </a:lnTo>
                <a:lnTo>
                  <a:pt x="0" y="26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1028700"/>
            <a:ext cx="1028700" cy="8746152"/>
            <a:chOff x="0" y="0"/>
            <a:chExt cx="270933" cy="23035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0933" cy="2303513"/>
            </a:xfrm>
            <a:custGeom>
              <a:avLst/>
              <a:gdLst/>
              <a:ahLst/>
              <a:cxnLst/>
              <a:rect r="r" b="b" t="t" l="l"/>
              <a:pathLst>
                <a:path h="230351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303513"/>
                  </a:lnTo>
                  <a:lnTo>
                    <a:pt x="0" y="2303513"/>
                  </a:lnTo>
                  <a:close/>
                </a:path>
              </a:pathLst>
            </a:custGeom>
            <a:solidFill>
              <a:srgbClr val="2C2C4C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70933" cy="23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3208" y="148213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3771765" y="2654991"/>
            <a:ext cx="10744470" cy="5631056"/>
            <a:chOff x="0" y="0"/>
            <a:chExt cx="1732898" cy="90819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32898" cy="908193"/>
            </a:xfrm>
            <a:custGeom>
              <a:avLst/>
              <a:gdLst/>
              <a:ahLst/>
              <a:cxnLst/>
              <a:rect r="r" b="b" t="t" l="l"/>
              <a:pathLst>
                <a:path h="908193" w="1732898">
                  <a:moveTo>
                    <a:pt x="0" y="0"/>
                  </a:moveTo>
                  <a:lnTo>
                    <a:pt x="1732898" y="0"/>
                  </a:lnTo>
                  <a:lnTo>
                    <a:pt x="1732898" y="908193"/>
                  </a:lnTo>
                  <a:lnTo>
                    <a:pt x="0" y="908193"/>
                  </a:lnTo>
                  <a:close/>
                </a:path>
              </a:pathLst>
            </a:custGeom>
            <a:solidFill>
              <a:srgbClr val="343A40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732898" cy="93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799188" y="7661795"/>
            <a:ext cx="1172524" cy="366219"/>
            <a:chOff x="0" y="0"/>
            <a:chExt cx="189108" cy="5906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9108" cy="59065"/>
            </a:xfrm>
            <a:custGeom>
              <a:avLst/>
              <a:gdLst/>
              <a:ahLst/>
              <a:cxnLst/>
              <a:rect r="r" b="b" t="t" l="l"/>
              <a:pathLst>
                <a:path h="59065" w="189108">
                  <a:moveTo>
                    <a:pt x="0" y="0"/>
                  </a:moveTo>
                  <a:lnTo>
                    <a:pt x="189108" y="0"/>
                  </a:lnTo>
                  <a:lnTo>
                    <a:pt x="189108" y="59065"/>
                  </a:lnTo>
                  <a:lnTo>
                    <a:pt x="0" y="59065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89108" cy="87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302442" y="7661795"/>
            <a:ext cx="1172524" cy="366219"/>
            <a:chOff x="0" y="0"/>
            <a:chExt cx="189108" cy="590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89108" cy="59065"/>
            </a:xfrm>
            <a:custGeom>
              <a:avLst/>
              <a:gdLst/>
              <a:ahLst/>
              <a:cxnLst/>
              <a:rect r="r" b="b" t="t" l="l"/>
              <a:pathLst>
                <a:path h="59065" w="189108">
                  <a:moveTo>
                    <a:pt x="0" y="0"/>
                  </a:moveTo>
                  <a:lnTo>
                    <a:pt x="189108" y="0"/>
                  </a:lnTo>
                  <a:lnTo>
                    <a:pt x="189108" y="59065"/>
                  </a:lnTo>
                  <a:lnTo>
                    <a:pt x="0" y="59065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89108" cy="87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3921889" y="2821954"/>
            <a:ext cx="219584" cy="229167"/>
          </a:xfrm>
          <a:custGeom>
            <a:avLst/>
            <a:gdLst/>
            <a:ahLst/>
            <a:cxnLst/>
            <a:rect r="r" b="b" t="t" l="l"/>
            <a:pathLst>
              <a:path h="229167" w="219584">
                <a:moveTo>
                  <a:pt x="0" y="0"/>
                </a:moveTo>
                <a:lnTo>
                  <a:pt x="219584" y="0"/>
                </a:lnTo>
                <a:lnTo>
                  <a:pt x="219584" y="229167"/>
                </a:lnTo>
                <a:lnTo>
                  <a:pt x="0" y="22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3717736" y="2815603"/>
            <a:ext cx="215722" cy="215722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078435" y="2815603"/>
            <a:ext cx="215722" cy="215722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21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921889" y="3206054"/>
            <a:ext cx="10478991" cy="4169294"/>
            <a:chOff x="0" y="0"/>
            <a:chExt cx="1690081" cy="6724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90081" cy="672436"/>
            </a:xfrm>
            <a:custGeom>
              <a:avLst/>
              <a:gdLst/>
              <a:ahLst/>
              <a:cxnLst/>
              <a:rect r="r" b="b" t="t" l="l"/>
              <a:pathLst>
                <a:path h="672436" w="1690081">
                  <a:moveTo>
                    <a:pt x="0" y="0"/>
                  </a:moveTo>
                  <a:lnTo>
                    <a:pt x="1690081" y="0"/>
                  </a:lnTo>
                  <a:lnTo>
                    <a:pt x="1690081" y="672436"/>
                  </a:lnTo>
                  <a:lnTo>
                    <a:pt x="0" y="672436"/>
                  </a:lnTo>
                  <a:close/>
                </a:path>
              </a:pathLst>
            </a:custGeom>
            <a:solidFill>
              <a:srgbClr val="495057"/>
            </a:solidFill>
            <a:ln w="9525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690081" cy="701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971712" y="3206054"/>
            <a:ext cx="429168" cy="4169294"/>
            <a:chOff x="0" y="0"/>
            <a:chExt cx="113032" cy="109808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3032" cy="1098086"/>
            </a:xfrm>
            <a:custGeom>
              <a:avLst/>
              <a:gdLst/>
              <a:ahLst/>
              <a:cxnLst/>
              <a:rect r="r" b="b" t="t" l="l"/>
              <a:pathLst>
                <a:path h="1098086" w="113032">
                  <a:moveTo>
                    <a:pt x="0" y="0"/>
                  </a:moveTo>
                  <a:lnTo>
                    <a:pt x="113032" y="0"/>
                  </a:lnTo>
                  <a:lnTo>
                    <a:pt x="113032" y="1098086"/>
                  </a:lnTo>
                  <a:lnTo>
                    <a:pt x="0" y="1098086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13032" cy="112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047942" y="3378447"/>
            <a:ext cx="276709" cy="2419568"/>
            <a:chOff x="0" y="0"/>
            <a:chExt cx="72878" cy="63725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2878" cy="637253"/>
            </a:xfrm>
            <a:custGeom>
              <a:avLst/>
              <a:gdLst/>
              <a:ahLst/>
              <a:cxnLst/>
              <a:rect r="r" b="b" t="t" l="l"/>
              <a:pathLst>
                <a:path h="637253" w="72878">
                  <a:moveTo>
                    <a:pt x="36439" y="0"/>
                  </a:moveTo>
                  <a:lnTo>
                    <a:pt x="36439" y="0"/>
                  </a:lnTo>
                  <a:cubicBezTo>
                    <a:pt x="56564" y="0"/>
                    <a:pt x="72878" y="16314"/>
                    <a:pt x="72878" y="36439"/>
                  </a:cubicBezTo>
                  <a:lnTo>
                    <a:pt x="72878" y="600814"/>
                  </a:lnTo>
                  <a:cubicBezTo>
                    <a:pt x="72878" y="620938"/>
                    <a:pt x="56564" y="637253"/>
                    <a:pt x="36439" y="637253"/>
                  </a:cubicBezTo>
                  <a:lnTo>
                    <a:pt x="36439" y="637253"/>
                  </a:lnTo>
                  <a:cubicBezTo>
                    <a:pt x="16314" y="637253"/>
                    <a:pt x="0" y="620938"/>
                    <a:pt x="0" y="600814"/>
                  </a:cubicBezTo>
                  <a:lnTo>
                    <a:pt x="0" y="36439"/>
                  </a:lnTo>
                  <a:cubicBezTo>
                    <a:pt x="0" y="16314"/>
                    <a:pt x="16314" y="0"/>
                    <a:pt x="36439" y="0"/>
                  </a:cubicBez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72878" cy="66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4630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1E1E1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68507" y="9884591"/>
            <a:ext cx="32895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Application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424240" y="7698570"/>
            <a:ext cx="928929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Yes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920986" y="7698570"/>
            <a:ext cx="928929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4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6585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4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115043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7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97769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489931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5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2946429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8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781888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29412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6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775126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9804"/>
                  </a:srgbClr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9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6601844" y="621396"/>
            <a:ext cx="1131073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10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73208" y="1149528"/>
            <a:ext cx="682284" cy="83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FFFFFF">
                    <a:alpha val="40000"/>
                  </a:srgbClr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535978" y="4887580"/>
            <a:ext cx="7218357" cy="122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8400">
                <a:solidFill>
                  <a:srgbClr val="E1E1E1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DAGp2K4hlFA</dc:identifier>
  <dcterms:modified xsi:type="dcterms:W3CDTF">2011-08-01T06:04:30Z</dcterms:modified>
  <cp:revision>1</cp:revision>
  <dc:title>Blue and White Professional Programmer Presentation</dc:title>
</cp:coreProperties>
</file>